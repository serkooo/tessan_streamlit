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9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10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GENERATIVE AI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Respiratoire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Intelligence Artificielle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7889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0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sons respiratoires · Cabines connectées TESSAN · Snowflake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291840"/>
            <a:ext cx="3657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3520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0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: Serkan Atmaca  ·  Ilyes Gheboul  ·  Arnaout Richard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9319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– 27 Mars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1887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583680" y="1188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11887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818120" y="1188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178308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583680" y="1783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Bronchite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18120" y="178308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818120" y="1783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78040" y="237744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16A34A">
              <a:alpha val="70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178040" y="2377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 ✓</a:t>
            </a:r>
            <a:endParaRPr lang="en-US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779252E-9C92-9F71-2C1E-BB98BA5A1A44}"/>
              </a:ext>
            </a:extLst>
          </p:cNvPr>
          <p:cNvSpPr txBox="1"/>
          <p:nvPr/>
        </p:nvSpPr>
        <p:spPr>
          <a:xfrm>
            <a:off x="8640233" y="4774168"/>
            <a:ext cx="550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743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38912" cy="43891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960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Problematique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1978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TESSAN · Deserts medicaux · Mission IA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38912" cy="43891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920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215798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· CNN Basique · CNN-BiLSTM-Attention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38912" cy="4389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65760" y="2880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2880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&amp; Pretraitement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2688" y="31181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Kaggle · Snowflake · Spectrogrammes Mel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438912" cy="43891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38404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3840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des Modeles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40782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accuracy · F1 macro 0.86 · Detail par classe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92040" y="96012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92040" y="960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58968" y="96012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58968" y="1197864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· UDF Snowpark · Interface diagnostic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1920240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92040" y="1920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58968" y="192024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Ajoutee &amp; Perspectives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58968" y="2157984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patient · Impact medical · 1600+ cabines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92040" y="2880360"/>
            <a:ext cx="438912" cy="43891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892040" y="2880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58968" y="28803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58968" y="3118104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Synthese · Limites · Recommandations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36592" y="914400"/>
            <a:ext cx="18288" cy="397764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2C584B8-D81C-3CE2-048B-9CC446E79A5C}"/>
              </a:ext>
            </a:extLst>
          </p:cNvPr>
          <p:cNvSpPr txBox="1"/>
          <p:nvPr/>
        </p:nvSpPr>
        <p:spPr>
          <a:xfrm>
            <a:off x="8686800" y="4774168"/>
            <a:ext cx="555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est TESSAN 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française de télémédecine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1 600+ cabines médicales connectées en pharmacies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350+ médecins partenaires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Stéthoscope, oxymètre, thermomètre, tensiomètre intégrés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soins partout en France, 7j/7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à résoudre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141732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64008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74920" y="1463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126480" y="1508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 sans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rapide à un médecin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37744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846320" y="2377440"/>
            <a:ext cx="64008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74920" y="2423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26480" y="2468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Asthmatiques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France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33756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846320" y="3337560"/>
            <a:ext cx="64008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74920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3ème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126480" y="3429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de mortalité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mondiale : la BPCO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389120"/>
            <a:ext cx="8412480" cy="50292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02920" y="44074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Mission : analyser les sons respiratoires par IA pour détecter asthme, BPCO, bronchite, pneumonie depuis les cabines TESSAN</a:t>
            </a:r>
            <a:endParaRPr lang="en-US" sz="12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52FB96D-B9FA-D9F7-F5DC-87542FB0D1CB}"/>
              </a:ext>
            </a:extLst>
          </p:cNvPr>
          <p:cNvSpPr txBox="1"/>
          <p:nvPr/>
        </p:nvSpPr>
        <p:spPr>
          <a:xfrm>
            <a:off x="8732520" y="4798814"/>
            <a:ext cx="509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261872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28600" y="1033272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490472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1 211 fichiers WAV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17904" y="1399032"/>
            <a:ext cx="1828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636776" y="1335024"/>
            <a:ext cx="109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09928" y="960120"/>
            <a:ext cx="1261872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709928" y="1033272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09928" y="1490472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audio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99232" y="1399032"/>
            <a:ext cx="1828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118104" y="1335024"/>
            <a:ext cx="109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91256" y="960120"/>
            <a:ext cx="1261872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191256" y="1033272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91256" y="1490472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Mono, filtrage,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80560" y="1399032"/>
            <a:ext cx="1828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99432" y="1335024"/>
            <a:ext cx="109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72584" y="960120"/>
            <a:ext cx="126187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672584" y="1033272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Mel-Spectro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72584" y="1490472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mels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n_fft=2048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61888" y="1399032"/>
            <a:ext cx="1828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080760" y="1335024"/>
            <a:ext cx="109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53912" y="960120"/>
            <a:ext cx="1261872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153912" y="1033272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CNN-BiLSTM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Attention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53912" y="1490472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43216" y="1399032"/>
            <a:ext cx="1828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562088" y="1335024"/>
            <a:ext cx="109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35240" y="960120"/>
            <a:ext cx="1261872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7635240" y="1033272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35240" y="1490472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temps réel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modèles entraînés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65760" y="2633472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65760" y="2633472"/>
            <a:ext cx="393192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57200" y="26334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1 — CNN Basique (Baseline)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3035808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blocs Conv2D + BatchNorm + ReLU + MaxPool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légère, rapide à entraîner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epochs · Adam optimizer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~65% sur jeu de test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46320" y="2633472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4846320" y="2633472"/>
            <a:ext cx="39319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937760" y="26334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2 — CNN-BiLSTM-Attention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83480" y="3035808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(features spatiales) + BiLSTM (patterns temporels)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 d'attention sur la séquence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epochs · SpecAugment · Data augmentation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~87% · F1-macro ~0.85</a:t>
            </a:r>
            <a:endParaRPr lang="en-US" sz="1200" dirty="0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B3A4877E-0F70-9A8B-15FC-A0A41B4A0E38}"/>
              </a:ext>
            </a:extLst>
          </p:cNvPr>
          <p:cNvSpPr txBox="1"/>
          <p:nvPr/>
        </p:nvSpPr>
        <p:spPr>
          <a:xfrm>
            <a:off x="8686800" y="4799475"/>
            <a:ext cx="541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PRÉTRAITEMENT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: Asthma Detection Dataset V2 (Kaggle)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des classes (1 211 fichiers)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COPD (BPCO)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17320" y="1325880"/>
            <a:ext cx="310896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0" y="1280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75564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17320" y="1801368"/>
            <a:ext cx="2808093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271133" y="17556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23113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17320" y="2276856"/>
            <a:ext cx="2507226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970266" y="223113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70662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17320" y="2752344"/>
            <a:ext cx="2306648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769688" y="270662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18211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Bronchite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417320" y="3227832"/>
            <a:ext cx="1414075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877115" y="31821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114800"/>
            <a:ext cx="4206240" cy="73152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57200" y="4133088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Classe Bronchite sous-représentée → gestion du déséquilibre avec class weights inversement proportionnels à la fréquence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prétraitement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846320" y="132588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846320" y="1325880"/>
            <a:ext cx="411480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46320" y="132588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49240" y="136245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Importation Snowflake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17099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WAV dans un Stage interne, métadonnées en table structurée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221992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846320" y="2221992"/>
            <a:ext cx="41148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846320" y="2221992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49240" y="225856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 audio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26060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Stéréo → Mono · Resample 22 050 Hz · Durée fixe 5s (padding/crop)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118104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846320" y="3118104"/>
            <a:ext cx="411480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846320" y="3118104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349240" y="31546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du bruit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49240" y="35021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passe-bande Butterworth 250–2 000 Hz (scipy.signal)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4014216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4846320" y="4014216"/>
            <a:ext cx="41148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846320" y="4014216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349240" y="40507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Spectrogramme Mel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49240" y="439826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mels · n_fft=2048 · hop=512 · Normalisation Z-score</a:t>
            </a:r>
            <a:endParaRPr lang="en-US" sz="1000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B7703E35-9FA3-1960-FE70-DA5170D75FEB}"/>
              </a:ext>
            </a:extLst>
          </p:cNvPr>
          <p:cNvSpPr txBox="1"/>
          <p:nvPr/>
        </p:nvSpPr>
        <p:spPr>
          <a:xfrm>
            <a:off x="8686800" y="4817102"/>
            <a:ext cx="548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DES MODÈLES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globale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28016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91640" y="1143000"/>
            <a:ext cx="100584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691640" y="11430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143000"/>
            <a:ext cx="96012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743200" y="114300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1143000"/>
            <a:ext cx="96012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749040" y="114300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536192"/>
            <a:ext cx="1280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1691640" y="1536192"/>
            <a:ext cx="1005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743200" y="1536192"/>
            <a:ext cx="960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749040" y="1536192"/>
            <a:ext cx="960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153619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Simple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91640" y="153619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0" y="1536192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1536192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011680"/>
            <a:ext cx="128016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1691640" y="2011680"/>
            <a:ext cx="100584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743200" y="2011680"/>
            <a:ext cx="96012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749040" y="2011680"/>
            <a:ext cx="96012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5760" y="201168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CNN-BiLSTM 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91640" y="201168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43200" y="2011680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49040" y="2011680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2487168"/>
            <a:ext cx="128016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1691640" y="2487168"/>
            <a:ext cx="10058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2743200" y="2487168"/>
            <a:ext cx="9601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749040" y="2487168"/>
            <a:ext cx="9601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65760" y="248716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Kaggle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691640" y="248716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743200" y="2487168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749040" y="2487168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5760" y="30632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par classe — CNN Simple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5760" y="336499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234440" y="3392424"/>
            <a:ext cx="2424989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3696005" y="3364992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3621024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234440" y="3648456"/>
            <a:ext cx="2331720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3602736" y="362102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387705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Bronchite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234440" y="3904488"/>
            <a:ext cx="214518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3416198" y="3877056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65760" y="413308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234440" y="4160520"/>
            <a:ext cx="2051914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3322930" y="4133088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65760" y="438912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234440" y="4416552"/>
            <a:ext cx="1709928" cy="1645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2980944" y="4389120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par classe — CNN-BiLSTM-Attention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4754880" y="1143000"/>
            <a:ext cx="109728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4754880" y="11430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897880" y="1143000"/>
            <a:ext cx="64008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5897880" y="11430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583680" y="1143000"/>
            <a:ext cx="64008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6583680" y="11430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269480" y="1143000"/>
            <a:ext cx="64008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7269480" y="11430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754880" y="1536192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5897880" y="1536192"/>
            <a:ext cx="640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6583680" y="1536192"/>
            <a:ext cx="640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7269480" y="1536192"/>
            <a:ext cx="640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Shape 65"/>
          <p:cNvSpPr/>
          <p:nvPr/>
        </p:nvSpPr>
        <p:spPr>
          <a:xfrm>
            <a:off x="4828032" y="167335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4992624" y="1536192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Asthme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897880" y="1536192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583680" y="1536192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269480" y="1536192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4754880" y="2011680"/>
            <a:ext cx="109728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5897880" y="2011680"/>
            <a:ext cx="64008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6583680" y="2011680"/>
            <a:ext cx="64008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7269480" y="2011680"/>
            <a:ext cx="64008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4828032" y="2148840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4992624" y="2011680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COPD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897880" y="2011680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6583680" y="2011680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7269480" y="2011680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4754880" y="2487168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Shape 80"/>
          <p:cNvSpPr/>
          <p:nvPr/>
        </p:nvSpPr>
        <p:spPr>
          <a:xfrm>
            <a:off x="5897880" y="2487168"/>
            <a:ext cx="640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3" name="Shape 81"/>
          <p:cNvSpPr/>
          <p:nvPr/>
        </p:nvSpPr>
        <p:spPr>
          <a:xfrm>
            <a:off x="6583680" y="2487168"/>
            <a:ext cx="640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Shape 82"/>
          <p:cNvSpPr/>
          <p:nvPr/>
        </p:nvSpPr>
        <p:spPr>
          <a:xfrm>
            <a:off x="7269480" y="2487168"/>
            <a:ext cx="640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5" name="Shape 83"/>
          <p:cNvSpPr/>
          <p:nvPr/>
        </p:nvSpPr>
        <p:spPr>
          <a:xfrm>
            <a:off x="4828032" y="262432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6" name="Text 84"/>
          <p:cNvSpPr/>
          <p:nvPr/>
        </p:nvSpPr>
        <p:spPr>
          <a:xfrm>
            <a:off x="4992624" y="2487168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Bronchite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5897880" y="2487168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6583680" y="2487168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7269480" y="2487168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4754880" y="2962656"/>
            <a:ext cx="109728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1" name="Shape 89"/>
          <p:cNvSpPr/>
          <p:nvPr/>
        </p:nvSpPr>
        <p:spPr>
          <a:xfrm>
            <a:off x="5897880" y="2962656"/>
            <a:ext cx="64008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2" name="Shape 90"/>
          <p:cNvSpPr/>
          <p:nvPr/>
        </p:nvSpPr>
        <p:spPr>
          <a:xfrm>
            <a:off x="6583680" y="2962656"/>
            <a:ext cx="64008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3" name="Shape 91"/>
          <p:cNvSpPr/>
          <p:nvPr/>
        </p:nvSpPr>
        <p:spPr>
          <a:xfrm>
            <a:off x="7269480" y="2962656"/>
            <a:ext cx="64008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4" name="Shape 92"/>
          <p:cNvSpPr/>
          <p:nvPr/>
        </p:nvSpPr>
        <p:spPr>
          <a:xfrm>
            <a:off x="4828032" y="309981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5" name="Text 93"/>
          <p:cNvSpPr/>
          <p:nvPr/>
        </p:nvSpPr>
        <p:spPr>
          <a:xfrm>
            <a:off x="4992624" y="2962656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Pneumonie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5897880" y="2962656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6583680" y="2962656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7269480" y="2962656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4754880" y="3438144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" name="Shape 98"/>
          <p:cNvSpPr/>
          <p:nvPr/>
        </p:nvSpPr>
        <p:spPr>
          <a:xfrm>
            <a:off x="5897880" y="3438144"/>
            <a:ext cx="640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1" name="Shape 99"/>
          <p:cNvSpPr/>
          <p:nvPr/>
        </p:nvSpPr>
        <p:spPr>
          <a:xfrm>
            <a:off x="6583680" y="3438144"/>
            <a:ext cx="640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2" name="Shape 100"/>
          <p:cNvSpPr/>
          <p:nvPr/>
        </p:nvSpPr>
        <p:spPr>
          <a:xfrm>
            <a:off x="7269480" y="3438144"/>
            <a:ext cx="640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3" name="Shape 101"/>
          <p:cNvSpPr/>
          <p:nvPr/>
        </p:nvSpPr>
        <p:spPr>
          <a:xfrm>
            <a:off x="4828032" y="3575304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4" name="Text 102"/>
          <p:cNvSpPr/>
          <p:nvPr/>
        </p:nvSpPr>
        <p:spPr>
          <a:xfrm>
            <a:off x="4992624" y="3438144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5897880" y="3438144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6583680" y="3438144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7269480" y="3438144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1300" dirty="0"/>
          </a:p>
        </p:txBody>
      </p:sp>
      <p:sp>
        <p:nvSpPr>
          <p:cNvPr id="108" name="Shape 106"/>
          <p:cNvSpPr/>
          <p:nvPr/>
        </p:nvSpPr>
        <p:spPr>
          <a:xfrm>
            <a:off x="4754880" y="3913632"/>
            <a:ext cx="109728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9" name="Shape 107"/>
          <p:cNvSpPr/>
          <p:nvPr/>
        </p:nvSpPr>
        <p:spPr>
          <a:xfrm>
            <a:off x="5897880" y="3913632"/>
            <a:ext cx="64008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0" name="Shape 108"/>
          <p:cNvSpPr/>
          <p:nvPr/>
        </p:nvSpPr>
        <p:spPr>
          <a:xfrm>
            <a:off x="6583680" y="3913632"/>
            <a:ext cx="64008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1" name="Shape 109"/>
          <p:cNvSpPr/>
          <p:nvPr/>
        </p:nvSpPr>
        <p:spPr>
          <a:xfrm>
            <a:off x="7269480" y="3913632"/>
            <a:ext cx="64008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2" name="Text 110"/>
          <p:cNvSpPr/>
          <p:nvPr/>
        </p:nvSpPr>
        <p:spPr>
          <a:xfrm>
            <a:off x="4754880" y="391363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5897880" y="391363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100" dirty="0"/>
          </a:p>
        </p:txBody>
      </p:sp>
      <p:sp>
        <p:nvSpPr>
          <p:cNvPr id="114" name="Text 112"/>
          <p:cNvSpPr/>
          <p:nvPr/>
        </p:nvSpPr>
        <p:spPr>
          <a:xfrm>
            <a:off x="6583680" y="391363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7269480" y="391363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4754880" y="4343400"/>
            <a:ext cx="411480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7" name="Text 115"/>
          <p:cNvSpPr/>
          <p:nvPr/>
        </p:nvSpPr>
        <p:spPr>
          <a:xfrm>
            <a:off x="4846320" y="4361688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Recall Sain : 95% · Recall Bronchite : 93%  — Le BiLSTM excelle sur les classes rares grâce aux class weights et à la data augmentation (SpecAugment).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365760" y="4343400"/>
            <a:ext cx="4206240" cy="54864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9" name="Text 117"/>
          <p:cNvSpPr/>
          <p:nvPr/>
        </p:nvSpPr>
        <p:spPr>
          <a:xfrm>
            <a:off x="457200" y="4361688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CNN Simple : classe 'Sain' difficile (F1=55%) — souvent confondue. Corrigé dans BiLSTM grâce à l'attention temporelle (recall 95%).</a:t>
            </a:r>
            <a:endParaRPr lang="en-US" sz="1000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559B0C1C-9E4D-6E82-4E06-B6925A4985A4}"/>
              </a:ext>
            </a:extLst>
          </p:cNvPr>
          <p:cNvSpPr txBox="1"/>
          <p:nvPr/>
        </p:nvSpPr>
        <p:spPr>
          <a:xfrm>
            <a:off x="8700348" y="4859173"/>
            <a:ext cx="541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440093" y="8229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Streamlit — Cabine Connectée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440093" y="1234439"/>
            <a:ext cx="4023360" cy="379814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2440093" y="1234440"/>
            <a:ext cx="4023360" cy="41148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485813" y="12344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Cabine Connectée TESSAN — Diagnostic IA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85813" y="1704340"/>
            <a:ext cx="3931920" cy="402336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2577253" y="17063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Upload fichier .WAV ou enregistrement micro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85813" y="2167128"/>
            <a:ext cx="3931920" cy="402336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577253" y="216712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Affichage spectrogramme Mel (colormap inferno)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85813" y="2642616"/>
            <a:ext cx="3931920" cy="402336"/>
          </a:xfrm>
          <a:prstGeom prst="rect">
            <a:avLst/>
          </a:prstGeom>
          <a:solidFill>
            <a:srgbClr val="FEF9C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2577253" y="264261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Pré-diagnostic IA — probabilités par classe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85813" y="3118104"/>
            <a:ext cx="3931920" cy="402336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2577253" y="311810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 Capteurs : SpO2, Température, Fréquence card.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485813" y="3593592"/>
            <a:ext cx="3931920" cy="402336"/>
          </a:xfrm>
          <a:prstGeom prst="rect">
            <a:avLst/>
          </a:prstGeom>
          <a:solidFill>
            <a:srgbClr val="FFF1F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2577253" y="359359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Niveaux de sévérité : Léger / Modéré / Sévère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485813" y="4069080"/>
            <a:ext cx="3931920" cy="402336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2577253" y="406908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Sauvegarde dans Snowflake (table PREDICTIONS)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485813" y="4544568"/>
            <a:ext cx="3931920" cy="402336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577253" y="454456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Historique pulmonaire du patient (suivi chronique)</a:t>
            </a:r>
            <a:endParaRPr lang="en-US" sz="1000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69EBCAEE-72DD-68EA-E3FE-75B63F25C618}"/>
              </a:ext>
            </a:extLst>
          </p:cNvPr>
          <p:cNvSpPr txBox="1"/>
          <p:nvPr/>
        </p:nvSpPr>
        <p:spPr>
          <a:xfrm>
            <a:off x="8700348" y="4859173"/>
            <a:ext cx="541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AJOUTÉE &amp; PERSPECTIVES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743200" cy="3886200"/>
          </a:xfrm>
          <a:prstGeom prst="rect">
            <a:avLst/>
          </a:prstGeom>
          <a:solidFill>
            <a:srgbClr val="243558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74320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Impact Patient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536192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Pré-diagnostic en temps réel sans médecin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précoce BPCO, asthme, pneumonie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rouge automatique si SpO2 critique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des délais de consultation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743200" cy="3886200"/>
          </a:xfrm>
          <a:prstGeom prst="rect">
            <a:avLst/>
          </a:prstGeom>
          <a:solidFill>
            <a:srgbClr val="243558"/>
          </a:solidFill>
          <a:ln w="1905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2743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91840" y="960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👨‍⚕️  Impact Médical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56432" y="1536192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intelligent avant téléconsultation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longitudinal des maladies chroniques et </a:t>
            </a:r>
            <a:r>
              <a:rPr lang="en-US" sz="12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pulmonaire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sauvegardé</a:t>
            </a:r>
            <a:endParaRPr lang="en-US" sz="1200" dirty="0"/>
          </a:p>
          <a:p>
            <a:pPr>
              <a:spcAft>
                <a:spcPts val="800"/>
              </a:spcAft>
              <a:buSzPct val="100000"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743200" cy="3886200"/>
          </a:xfrm>
          <a:prstGeom prst="rect">
            <a:avLst/>
          </a:prstGeom>
          <a:solidFill>
            <a:srgbClr val="243558"/>
          </a:solidFill>
          <a:ln w="19050">
            <a:solidFill>
              <a:srgbClr val="16A3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27432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217920" y="960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Perspectives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82512" y="1536192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multimodale : SpO2 + Temp + Audio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: explicabilité des prédictions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sur 1 600+ cabines TESSAN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en temps réel → veille sanitaire</a:t>
            </a:r>
            <a:endParaRPr lang="en-US" sz="12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0143822-FE15-0293-0B84-F071AEDCA69D}"/>
              </a:ext>
            </a:extLst>
          </p:cNvPr>
          <p:cNvSpPr txBox="1"/>
          <p:nvPr/>
        </p:nvSpPr>
        <p:spPr>
          <a:xfrm>
            <a:off x="8700348" y="4809744"/>
            <a:ext cx="541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>
                    <a:lumMod val="95000"/>
                  </a:schemeClr>
                </a:solidFill>
              </a:rP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3606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674620" y="1102360"/>
            <a:ext cx="3977640" cy="1417320"/>
          </a:xfrm>
          <a:prstGeom prst="rect">
            <a:avLst/>
          </a:prstGeom>
          <a:solidFill>
            <a:srgbClr val="243558"/>
          </a:solidFill>
          <a:ln w="1905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674620" y="1097280"/>
            <a:ext cx="594360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674620" y="1102360"/>
            <a:ext cx="594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60420" y="1193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60420" y="15595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0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CNN-</a:t>
            </a:r>
            <a:r>
              <a:rPr lang="en-US" sz="1100" dirty="0" err="1">
                <a:solidFill>
                  <a:srgbClr val="A0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r>
              <a:rPr lang="en-US" sz="1100" dirty="0">
                <a:solidFill>
                  <a:srgbClr val="A0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-Attention · ~87% accuracy · F1-macro ~86%· Data augmentation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3977640" cy="1417320"/>
          </a:xfrm>
          <a:prstGeom prst="rect">
            <a:avLst/>
          </a:prstGeom>
          <a:solidFill>
            <a:srgbClr val="243558"/>
          </a:solidFill>
          <a:ln w="1905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594360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5760" y="2697480"/>
            <a:ext cx="594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1546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 Snowpark · Streamlit connecté · Sauvegarde des prédictions · Monitoring épidémio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697480"/>
            <a:ext cx="3977640" cy="1417320"/>
          </a:xfrm>
          <a:prstGeom prst="rect">
            <a:avLst/>
          </a:prstGeom>
          <a:solidFill>
            <a:srgbClr val="243558"/>
          </a:solidFill>
          <a:ln w="1905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663440" y="2697480"/>
            <a:ext cx="594360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663440" y="2697480"/>
            <a:ext cx="594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31546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</a:t>
            </a:r>
            <a:r>
              <a:rPr lang="en-US" sz="1100" dirty="0" err="1">
                <a:solidFill>
                  <a:srgbClr val="A0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</a:t>
            </a:r>
            <a:r>
              <a:rPr lang="en-US" sz="1100" dirty="0">
                <a:solidFill>
                  <a:srgbClr val="A0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A0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</a:t>
            </a:r>
            <a:r>
              <a:rPr lang="en-US" sz="1100" dirty="0">
                <a:solidFill>
                  <a:srgbClr val="A0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patients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A0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reconnaissance de respiration avec micro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! — Serkan Atmaca · Ilyes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Gueboul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Arnaout Richard  |  Hackathon Generative AI 2026</a:t>
            </a:r>
            <a:endParaRPr lang="en-US" sz="13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A7A499C5-34B2-769A-ABF7-BD9F443C3E3A}"/>
              </a:ext>
            </a:extLst>
          </p:cNvPr>
          <p:cNvSpPr txBox="1"/>
          <p:nvPr/>
        </p:nvSpPr>
        <p:spPr>
          <a:xfrm>
            <a:off x="8700348" y="4859173"/>
            <a:ext cx="541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>
                    <a:lumMod val="95000"/>
                  </a:schemeClr>
                </a:solidFill>
              </a:rP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831</Words>
  <Application>Microsoft Office PowerPoint</Application>
  <PresentationFormat>Affichage à l'écran (16:9)</PresentationFormat>
  <Paragraphs>231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Generative AI - TESSAN</dc:title>
  <dc:subject>PptxGenJS Presentation</dc:subject>
  <dc:creator>PptxGenJS</dc:creator>
  <cp:lastModifiedBy>Boubakri Chadha</cp:lastModifiedBy>
  <cp:revision>7</cp:revision>
  <dcterms:created xsi:type="dcterms:W3CDTF">2026-03-24T21:51:09Z</dcterms:created>
  <dcterms:modified xsi:type="dcterms:W3CDTF">2026-03-24T22:42:45Z</dcterms:modified>
</cp:coreProperties>
</file>